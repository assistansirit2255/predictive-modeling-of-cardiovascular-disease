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ricolage Grotesque Extra Bold" panose="020B0604020202020204" charset="0"/>
      <p:regular r:id="rId13"/>
    </p:embeddedFont>
    <p:embeddedFont>
      <p:font typeface="Montserrat" panose="000005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726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07E22A-6EE6-4A33-3687-958E0ED2E029}"/>
              </a:ext>
            </a:extLst>
          </p:cNvPr>
          <p:cNvSpPr/>
          <p:nvPr/>
        </p:nvSpPr>
        <p:spPr>
          <a:xfrm>
            <a:off x="0" y="8487"/>
            <a:ext cx="14630400" cy="8229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 0"/>
          <p:cNvSpPr/>
          <p:nvPr/>
        </p:nvSpPr>
        <p:spPr>
          <a:xfrm>
            <a:off x="370043" y="418039"/>
            <a:ext cx="8829713" cy="354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Predictive Modeling of Cardiovascular Disease Risk Factors Using an </a:t>
            </a:r>
            <a:r>
              <a:rPr lang="en-US" sz="35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Interpretable</a:t>
            </a: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Machine Learning Approach</a:t>
            </a:r>
            <a:endParaRPr lang="en-US" sz="44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D14BEB-3E09-91B8-FC46-56F3AA207069}"/>
              </a:ext>
            </a:extLst>
          </p:cNvPr>
          <p:cNvSpPr txBox="1"/>
          <p:nvPr/>
        </p:nvSpPr>
        <p:spPr>
          <a:xfrm>
            <a:off x="3286314" y="4448174"/>
            <a:ext cx="2667092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50" dirty="0">
                <a:solidFill>
                  <a:schemeClr val="bg1"/>
                </a:solidFill>
              </a:rPr>
              <a:t>Presented by:</a:t>
            </a: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06FCAF15-6A4A-CBB6-07A3-9EDD00A385EE}"/>
              </a:ext>
            </a:extLst>
          </p:cNvPr>
          <p:cNvSpPr/>
          <p:nvPr/>
        </p:nvSpPr>
        <p:spPr>
          <a:xfrm>
            <a:off x="370042" y="3404217"/>
            <a:ext cx="7948767" cy="45719"/>
          </a:xfrm>
          <a:prstGeom prst="rect">
            <a:avLst/>
          </a:prstGeom>
          <a:solidFill>
            <a:srgbClr val="EEAEF6"/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D46422-D077-92BA-4E05-FD4CEB269793}"/>
              </a:ext>
            </a:extLst>
          </p:cNvPr>
          <p:cNvGrpSpPr/>
          <p:nvPr/>
        </p:nvGrpSpPr>
        <p:grpSpPr>
          <a:xfrm>
            <a:off x="279381" y="5364660"/>
            <a:ext cx="3257005" cy="1782791"/>
            <a:chOff x="279382" y="6119356"/>
            <a:chExt cx="3257005" cy="1782791"/>
          </a:xfrm>
        </p:grpSpPr>
        <p:sp>
          <p:nvSpPr>
            <p:cNvPr id="15" name="Shape 1">
              <a:extLst>
                <a:ext uri="{FF2B5EF4-FFF2-40B4-BE49-F238E27FC236}">
                  <a16:creationId xmlns:a16="http://schemas.microsoft.com/office/drawing/2014/main" id="{6BAD9837-816A-2B1F-9520-4080824980BE}"/>
                </a:ext>
              </a:extLst>
            </p:cNvPr>
            <p:cNvSpPr/>
            <p:nvPr/>
          </p:nvSpPr>
          <p:spPr>
            <a:xfrm>
              <a:off x="279382" y="6119356"/>
              <a:ext cx="3257005" cy="1782791"/>
            </a:xfrm>
            <a:prstGeom prst="roundRect">
              <a:avLst>
                <a:gd name="adj" fmla="val 2885"/>
              </a:avLst>
            </a:prstGeom>
            <a:solidFill>
              <a:srgbClr val="282D5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A51D777-1333-0F62-665D-AA1BD2CF9537}"/>
                </a:ext>
              </a:extLst>
            </p:cNvPr>
            <p:cNvSpPr txBox="1"/>
            <p:nvPr/>
          </p:nvSpPr>
          <p:spPr>
            <a:xfrm>
              <a:off x="370043" y="6230905"/>
              <a:ext cx="3075684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b="1" dirty="0">
                  <a:solidFill>
                    <a:schemeClr val="bg1"/>
                  </a:solidFill>
                </a:rPr>
                <a:t>Garima Sharma</a:t>
              </a:r>
            </a:p>
            <a:p>
              <a:r>
                <a:rPr lang="en-US" sz="2500" b="1" dirty="0">
                  <a:solidFill>
                    <a:schemeClr val="bg1"/>
                  </a:solidFill>
                </a:rPr>
                <a:t>BCA (AI &amp; DS) </a:t>
              </a:r>
            </a:p>
            <a:p>
              <a:r>
                <a:rPr lang="en-IN" sz="2500" b="1" dirty="0">
                  <a:solidFill>
                    <a:schemeClr val="bg1"/>
                  </a:solidFill>
                </a:rPr>
                <a:t>2401201212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BEF2FB-EDC3-BEB0-9BF6-F2F768445F87}"/>
              </a:ext>
            </a:extLst>
          </p:cNvPr>
          <p:cNvGrpSpPr/>
          <p:nvPr/>
        </p:nvGrpSpPr>
        <p:grpSpPr>
          <a:xfrm>
            <a:off x="5692026" y="5364660"/>
            <a:ext cx="3439035" cy="1782791"/>
            <a:chOff x="5760721" y="6119355"/>
            <a:chExt cx="3439035" cy="1782791"/>
          </a:xfrm>
        </p:grpSpPr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74DF7B89-D0F8-8071-A7F6-F077C148ACB0}"/>
                </a:ext>
              </a:extLst>
            </p:cNvPr>
            <p:cNvSpPr/>
            <p:nvPr/>
          </p:nvSpPr>
          <p:spPr>
            <a:xfrm>
              <a:off x="5760721" y="6119355"/>
              <a:ext cx="3257005" cy="1782791"/>
            </a:xfrm>
            <a:prstGeom prst="roundRect">
              <a:avLst>
                <a:gd name="adj" fmla="val 2885"/>
              </a:avLst>
            </a:prstGeom>
            <a:solidFill>
              <a:srgbClr val="282D5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63C6E5F-7367-ABE1-60D3-66AEF18D94E5}"/>
                </a:ext>
              </a:extLst>
            </p:cNvPr>
            <p:cNvSpPr txBox="1"/>
            <p:nvPr/>
          </p:nvSpPr>
          <p:spPr>
            <a:xfrm>
              <a:off x="6124072" y="6341948"/>
              <a:ext cx="3075684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500" b="1" dirty="0">
                  <a:solidFill>
                    <a:schemeClr val="bg1"/>
                  </a:solidFill>
                </a:rPr>
                <a:t>Khushi Chauhan</a:t>
              </a:r>
            </a:p>
            <a:p>
              <a:r>
                <a:rPr lang="en-US" sz="2500" b="1" dirty="0">
                  <a:solidFill>
                    <a:schemeClr val="bg1"/>
                  </a:solidFill>
                </a:rPr>
                <a:t>BCA (AI &amp; DS) </a:t>
              </a:r>
            </a:p>
            <a:p>
              <a:r>
                <a:rPr lang="en-US" sz="2500" b="1" dirty="0">
                  <a:solidFill>
                    <a:schemeClr val="bg1"/>
                  </a:solidFill>
                </a:rPr>
                <a:t>2401201167</a:t>
              </a:r>
            </a:p>
          </p:txBody>
        </p:sp>
      </p:grp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F5CA1D0-0227-3D82-F4D2-BC8627C9FAF2}"/>
              </a:ext>
            </a:extLst>
          </p:cNvPr>
          <p:cNvGrpSpPr/>
          <p:nvPr/>
        </p:nvGrpSpPr>
        <p:grpSpPr>
          <a:xfrm>
            <a:off x="1907884" y="3665211"/>
            <a:ext cx="5911819" cy="617301"/>
            <a:chOff x="1907885" y="3872602"/>
            <a:chExt cx="5911819" cy="617301"/>
          </a:xfrm>
        </p:grpSpPr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5476D504-7815-8347-93E5-119F86E2C155}"/>
                </a:ext>
              </a:extLst>
            </p:cNvPr>
            <p:cNvSpPr/>
            <p:nvPr/>
          </p:nvSpPr>
          <p:spPr>
            <a:xfrm>
              <a:off x="1916204" y="3945963"/>
              <a:ext cx="5407315" cy="543940"/>
            </a:xfrm>
            <a:prstGeom prst="roundRect">
              <a:avLst>
                <a:gd name="adj" fmla="val 2721"/>
              </a:avLst>
            </a:prstGeom>
            <a:solidFill>
              <a:srgbClr val="161B4C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3D4E40-00FD-AA14-8E1D-A93F1F935C70}"/>
                </a:ext>
              </a:extLst>
            </p:cNvPr>
            <p:cNvSpPr txBox="1"/>
            <p:nvPr/>
          </p:nvSpPr>
          <p:spPr>
            <a:xfrm>
              <a:off x="1907885" y="3872602"/>
              <a:ext cx="591181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000" b="1" dirty="0">
                  <a:solidFill>
                    <a:srgbClr val="CC66FF"/>
                  </a:solidFill>
                </a:rPr>
                <a:t>TEAM NAME: DATA DETECTIVES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718F34C-813D-1217-DF65-A1BE3757C895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626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Abstract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311598"/>
            <a:ext cx="3664744" cy="2758559"/>
          </a:xfrm>
          <a:prstGeom prst="roundRect">
            <a:avLst>
              <a:gd name="adj" fmla="val 3454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507004" y="25384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028831"/>
            <a:ext cx="3211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CVD prediction matters for early intervention, but black-box ML models lack clinical trust and transparency.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311598"/>
            <a:ext cx="3664863" cy="2758559"/>
          </a:xfrm>
          <a:prstGeom prst="roundRect">
            <a:avLst>
              <a:gd name="adj" fmla="val 3454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398562" y="25384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Our Approach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562" y="3028831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combined with SHAP analysis on 68K+ patient records for interpretable predictions.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96972"/>
            <a:ext cx="7556421" cy="1669852"/>
          </a:xfrm>
          <a:prstGeom prst="roundRect">
            <a:avLst>
              <a:gd name="adj" fmla="val 5705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07004" y="55237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014204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Systolic blood pressure, age, and cholesterol emerged as top predictive factors.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7786094-F795-1CC4-40B6-2A8E163D65FE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56410"/>
            <a:ext cx="59464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The Global CVD Crisis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5760720" y="2310172"/>
            <a:ext cx="36364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17.9M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161246" y="33419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Annual Deaths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760720" y="3832386"/>
            <a:ext cx="36364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CVD causes 32% of global mortality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680614" y="2310172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80%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10081260" y="33419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Preventable Cases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80614" y="3832386"/>
            <a:ext cx="36365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Early detection could save millions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34863" y="516583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Cardiovascular disease progresses asymptomatically, leading to late detection. Current ML models achieve high accuracy but lack the transparency needed for clinical adoption.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ECDAD54-2220-DEA3-B5EC-297A20166C42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793790" y="782795"/>
            <a:ext cx="57440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Research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6407944" cy="30480"/>
          </a:xfrm>
          <a:prstGeom prst="rect">
            <a:avLst/>
          </a:prstGeom>
          <a:solidFill>
            <a:srgbClr val="EEAE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3377803"/>
            <a:ext cx="31522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Build Predictive Model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 Random Forest classifier for CVD risk assessment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203496"/>
            <a:ext cx="6408063" cy="30480"/>
          </a:xfrm>
          <a:prstGeom prst="rect">
            <a:avLst/>
          </a:prstGeom>
          <a:solidFill>
            <a:srgbClr val="EEAE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28548" y="3377803"/>
            <a:ext cx="31678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Enable Interpretability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868222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 SHAP analysis for transparent feature attribution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EEAE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93790" y="5520214"/>
            <a:ext cx="34237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Quantify Feature Impact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 12 clinical features by predictive importance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Bricolage Grotesque Light" pitchFamily="34" charset="0"/>
                <a:ea typeface="Bricolage Grotesque Light" pitchFamily="34" charset="-122"/>
                <a:cs typeface="Bricolage Grotesqu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345906"/>
            <a:ext cx="6408063" cy="30480"/>
          </a:xfrm>
          <a:prstGeom prst="rect">
            <a:avLst/>
          </a:prstGeom>
          <a:solidFill>
            <a:srgbClr val="EEAE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Clinical Validation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6010632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 findings align with medical knowledge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521C224-8A15-C7EF-9B75-8E70EB16FADB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793790" y="892612"/>
            <a:ext cx="80045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Challenges in CVD Prediction</a:t>
            </a:r>
            <a:endParaRPr lang="en-US" sz="4450" dirty="0"/>
          </a:p>
        </p:txBody>
      </p:sp>
      <p:sp>
        <p:nvSpPr>
          <p:cNvPr id="7" name="Text 5"/>
          <p:cNvSpPr/>
          <p:nvPr/>
        </p:nvSpPr>
        <p:spPr>
          <a:xfrm>
            <a:off x="9432319" y="32403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Our Innovation</a:t>
            </a:r>
            <a:endParaRPr lang="en-US" sz="2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14CE41F-0ABF-D6FC-9C58-AD3429005B64}"/>
              </a:ext>
            </a:extLst>
          </p:cNvPr>
          <p:cNvGrpSpPr/>
          <p:nvPr/>
        </p:nvGrpSpPr>
        <p:grpSpPr>
          <a:xfrm>
            <a:off x="213504" y="3240326"/>
            <a:ext cx="7101696" cy="2366123"/>
            <a:chOff x="213504" y="2885996"/>
            <a:chExt cx="7101696" cy="236612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92EFDBC-6D8A-3339-1551-7BD852502D2E}"/>
                </a:ext>
              </a:extLst>
            </p:cNvPr>
            <p:cNvSpPr/>
            <p:nvPr/>
          </p:nvSpPr>
          <p:spPr>
            <a:xfrm>
              <a:off x="213504" y="3434893"/>
              <a:ext cx="7101696" cy="1817226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  <a:shade val="30000"/>
                    <a:satMod val="115000"/>
                  </a:schemeClr>
                </a:gs>
                <a:gs pos="50000">
                  <a:schemeClr val="accent1">
                    <a:lumMod val="50000"/>
                    <a:shade val="67500"/>
                    <a:satMod val="115000"/>
                  </a:schemeClr>
                </a:gs>
                <a:gs pos="100000">
                  <a:schemeClr val="accent1">
                    <a:lumMod val="50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80A725C-D1B5-55D5-6159-1E6BCFB37853}"/>
                </a:ext>
              </a:extLst>
            </p:cNvPr>
            <p:cNvGrpSpPr/>
            <p:nvPr/>
          </p:nvGrpSpPr>
          <p:grpSpPr>
            <a:xfrm>
              <a:off x="347241" y="2885996"/>
              <a:ext cx="6069997" cy="1828444"/>
              <a:chOff x="793790" y="2168366"/>
              <a:chExt cx="7604284" cy="1828444"/>
            </a:xfrm>
          </p:grpSpPr>
          <p:sp>
            <p:nvSpPr>
              <p:cNvPr id="3" name="Text 1"/>
              <p:cNvSpPr/>
              <p:nvPr/>
            </p:nvSpPr>
            <p:spPr>
              <a:xfrm>
                <a:off x="793790" y="2168366"/>
                <a:ext cx="2996446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EEAEF6"/>
                    </a:solidFill>
                    <a:latin typeface="Bricolage Grotesque Extra Bold" pitchFamily="34" charset="0"/>
                    <a:ea typeface="Bricolage Grotesque Extra Bold" pitchFamily="34" charset="-122"/>
                    <a:cs typeface="Bricolage Grotesque Extra Bold" pitchFamily="34" charset="-120"/>
                  </a:rPr>
                  <a:t>Previous Approaches</a:t>
                </a:r>
                <a:endParaRPr lang="en-US" sz="2200" dirty="0"/>
              </a:p>
            </p:txBody>
          </p:sp>
          <p:sp>
            <p:nvSpPr>
              <p:cNvPr id="4" name="Text 2"/>
              <p:cNvSpPr/>
              <p:nvPr/>
            </p:nvSpPr>
            <p:spPr>
              <a:xfrm>
                <a:off x="793790" y="2749510"/>
                <a:ext cx="7604284" cy="3629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2850"/>
                  </a:lnSpc>
                  <a:buSzPct val="100000"/>
                  <a:buChar char="•"/>
                </a:pPr>
                <a:r>
                  <a:rPr lang="en-US" sz="1750" dirty="0">
                    <a:solidFill>
                      <a:srgbClr val="E5DCE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Logistic Regression: interpretable but limited accuracy</a:t>
                </a:r>
                <a:endParaRPr lang="en-US" sz="1750" dirty="0"/>
              </a:p>
            </p:txBody>
          </p:sp>
          <p:sp>
            <p:nvSpPr>
              <p:cNvPr id="5" name="Text 3"/>
              <p:cNvSpPr/>
              <p:nvPr/>
            </p:nvSpPr>
            <p:spPr>
              <a:xfrm>
                <a:off x="793790" y="3191708"/>
                <a:ext cx="7604284" cy="3629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2850"/>
                  </a:lnSpc>
                  <a:buSzPct val="100000"/>
                  <a:buChar char="•"/>
                </a:pPr>
                <a:r>
                  <a:rPr lang="en-US" sz="1750" dirty="0">
                    <a:solidFill>
                      <a:srgbClr val="E5DCE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SVM &amp; Neural Networks: high accuracy, poor explainability</a:t>
                </a:r>
                <a:endParaRPr lang="en-US" sz="1750" dirty="0"/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793790" y="3633907"/>
                <a:ext cx="7604284" cy="3629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342900" indent="-342900" algn="l">
                  <a:lnSpc>
                    <a:spcPts val="2850"/>
                  </a:lnSpc>
                  <a:buSzPct val="100000"/>
                  <a:buChar char="•"/>
                </a:pPr>
                <a:r>
                  <a:rPr lang="en-US" sz="1750" dirty="0">
                    <a:solidFill>
                      <a:srgbClr val="E5DCE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Clinical scoring systems: outdated risk factors</a:t>
                </a:r>
                <a:endParaRPr lang="en-US" sz="1750" dirty="0"/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176A32F-47B7-B970-F27C-C80D02C1CBD2}"/>
              </a:ext>
            </a:extLst>
          </p:cNvPr>
          <p:cNvGrpSpPr/>
          <p:nvPr/>
        </p:nvGrpSpPr>
        <p:grpSpPr>
          <a:xfrm>
            <a:off x="8634714" y="3815332"/>
            <a:ext cx="5837476" cy="1696874"/>
            <a:chOff x="8634714" y="3467140"/>
            <a:chExt cx="5837476" cy="169687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B456FB-DB9B-A5C1-477B-0970F53734C1}"/>
                </a:ext>
              </a:extLst>
            </p:cNvPr>
            <p:cNvSpPr/>
            <p:nvPr/>
          </p:nvSpPr>
          <p:spPr>
            <a:xfrm>
              <a:off x="8634714" y="3467140"/>
              <a:ext cx="5837476" cy="169687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  <a:shade val="30000"/>
                    <a:satMod val="115000"/>
                  </a:schemeClr>
                </a:gs>
                <a:gs pos="50000">
                  <a:schemeClr val="accent1">
                    <a:lumMod val="50000"/>
                    <a:shade val="67500"/>
                    <a:satMod val="115000"/>
                  </a:schemeClr>
                </a:gs>
                <a:gs pos="100000">
                  <a:schemeClr val="accent1">
                    <a:lumMod val="50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8798312" y="3529596"/>
              <a:ext cx="5618584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E5DCE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SHAP bridges the gap using cooperative game theory to provide both accuracy and transparency for healthcare ML.</a:t>
              </a:r>
              <a:endParaRPr lang="en-US" sz="17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54AE63B-956E-1407-9FB8-0A2DE4A2FEF4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793790" y="17545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Methodology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16912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541401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68,591 records, 13 features including age, blood pressure, cholesterol, lifestyle factors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916912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Model Training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541401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80/20 train-test split using Random Forest classifier with optimized hyperparameters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916912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SHAP Analysis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541401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TreeExplainer for feature importance ranking and individual prediction explanations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61120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Tools:</a:t>
            </a: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Python, scikit-learn, pandas, SHAP library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D6F7855-99F8-EA30-EF3B-9CC316D6CD73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562213" y="441722"/>
            <a:ext cx="5536049" cy="501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Feature Importance Results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62213" y="9008864"/>
            <a:ext cx="1350597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Systolic blood pressure emerged as the strongest predictor, nearly twice as impactful as weight.</a:t>
            </a:r>
            <a:endParaRPr lang="en-US" sz="12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D5C10E-7FFF-8BF8-EA22-1C403FF80BE0}"/>
              </a:ext>
            </a:extLst>
          </p:cNvPr>
          <p:cNvSpPr txBox="1"/>
          <p:nvPr/>
        </p:nvSpPr>
        <p:spPr>
          <a:xfrm>
            <a:off x="450701" y="1483310"/>
            <a:ext cx="7315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Systolic Blood Pressure (</a:t>
            </a:r>
            <a:r>
              <a:rPr lang="en-US" sz="2400" b="1" dirty="0" err="1">
                <a:solidFill>
                  <a:schemeClr val="bg1">
                    <a:lumMod val="95000"/>
                  </a:schemeClr>
                </a:solidFill>
              </a:rPr>
              <a:t>ap_hi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)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is the strongest predictor of CVD risk.</a:t>
            </a:r>
          </a:p>
          <a:p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Age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Cholesterol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follow as major contributors.</a:t>
            </a:r>
          </a:p>
          <a:p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Weight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Diastolic BP (</a:t>
            </a:r>
            <a:r>
              <a:rPr lang="en-US" sz="2400" b="1" dirty="0" err="1">
                <a:solidFill>
                  <a:schemeClr val="bg1">
                    <a:lumMod val="95000"/>
                  </a:schemeClr>
                </a:solidFill>
              </a:rPr>
              <a:t>ap_lo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)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also influence predictions, but less strongly.</a:t>
            </a:r>
          </a:p>
          <a:p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Lifestyle factors (smoking, alcohol, activity) have minor but noticeable impacts.</a:t>
            </a:r>
          </a:p>
          <a:p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High values of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ap_hi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, age, and cholesterol consistently increase predicted risk.</a:t>
            </a:r>
          </a:p>
        </p:txBody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96507" y="1204332"/>
            <a:ext cx="5965903" cy="57763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FB22429-D534-8267-BFA2-1B96C2C444DC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C709B7F0-F973-9BDC-A2B8-2EF0F8109623}"/>
              </a:ext>
            </a:extLst>
          </p:cNvPr>
          <p:cNvSpPr/>
          <p:nvPr/>
        </p:nvSpPr>
        <p:spPr>
          <a:xfrm>
            <a:off x="562213" y="441722"/>
            <a:ext cx="5536049" cy="501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 Insights and Results</a:t>
            </a:r>
            <a:endParaRPr lang="en-US" sz="31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E10831-4907-016A-C81E-044B404DB4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36820" y="2158304"/>
            <a:ext cx="4192688" cy="3428458"/>
          </a:xfrm>
          <a:prstGeom prst="rect">
            <a:avLst/>
          </a:prstGeom>
        </p:spPr>
      </p:pic>
      <p:pic>
        <p:nvPicPr>
          <p:cNvPr id="16" name="Picture 15" descr="A diagram of a graph&#10;&#10;AI-generated content may be incorrect.">
            <a:extLst>
              <a:ext uri="{FF2B5EF4-FFF2-40B4-BE49-F238E27FC236}">
                <a16:creationId xmlns:a16="http://schemas.microsoft.com/office/drawing/2014/main" id="{3DAB25F2-A0D8-F11E-4B07-82E229051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153" y="2158303"/>
            <a:ext cx="4192688" cy="3428458"/>
          </a:xfrm>
          <a:prstGeom prst="rect">
            <a:avLst/>
          </a:prstGeom>
        </p:spPr>
      </p:pic>
      <p:pic>
        <p:nvPicPr>
          <p:cNvPr id="20" name="Picture 19" descr="A screenshot of a graph&#10;&#10;AI-generated content may be incorrect.">
            <a:extLst>
              <a:ext uri="{FF2B5EF4-FFF2-40B4-BE49-F238E27FC236}">
                <a16:creationId xmlns:a16="http://schemas.microsoft.com/office/drawing/2014/main" id="{70E62D35-2630-7F8F-8A1B-673E44017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213" y="2158302"/>
            <a:ext cx="4267962" cy="342845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D4B7ED2-9EFE-8EC9-9DC9-745D0B4EB5E4}"/>
              </a:ext>
            </a:extLst>
          </p:cNvPr>
          <p:cNvSpPr txBox="1"/>
          <p:nvPr/>
        </p:nvSpPr>
        <p:spPr>
          <a:xfrm>
            <a:off x="10262076" y="1577226"/>
            <a:ext cx="4368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Systolic BP vs. Cholesterol Violin Plot</a:t>
            </a:r>
            <a:endParaRPr lang="en-IN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54CEE0-0803-A24A-DC9D-D2FB383E6585}"/>
              </a:ext>
            </a:extLst>
          </p:cNvPr>
          <p:cNvSpPr txBox="1"/>
          <p:nvPr/>
        </p:nvSpPr>
        <p:spPr>
          <a:xfrm>
            <a:off x="836342" y="1577226"/>
            <a:ext cx="26428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>
                    <a:lumMod val="95000"/>
                  </a:schemeClr>
                </a:solidFill>
              </a:rPr>
              <a:t>Correlation Heatmap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F28B73-FE29-F73B-9872-1D9F872B4B85}"/>
              </a:ext>
            </a:extLst>
          </p:cNvPr>
          <p:cNvSpPr txBox="1"/>
          <p:nvPr/>
        </p:nvSpPr>
        <p:spPr>
          <a:xfrm>
            <a:off x="5308828" y="1608004"/>
            <a:ext cx="50738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Age Distribution (Box Plot: Healthy vs At-Risk) 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0B472E-C340-6F48-4134-B9A2B9C3C07E}"/>
              </a:ext>
            </a:extLst>
          </p:cNvPr>
          <p:cNvSpPr txBox="1"/>
          <p:nvPr/>
        </p:nvSpPr>
        <p:spPr>
          <a:xfrm>
            <a:off x="562214" y="6099938"/>
            <a:ext cx="42679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Systolic (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ap_hi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) and Diastolic (</a:t>
            </a:r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ap_lo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) BP show a strong correlation (0.69), while other variables have weaker links.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ACCDA9-6395-DD40-A810-8D9009566256}"/>
              </a:ext>
            </a:extLst>
          </p:cNvPr>
          <p:cNvSpPr txBox="1"/>
          <p:nvPr/>
        </p:nvSpPr>
        <p:spPr>
          <a:xfrm>
            <a:off x="5437154" y="6111310"/>
            <a:ext cx="41926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At-risk individuals are generally older, confirming age as a major cardiovascular risk factor.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24D360-F16B-7722-0770-9D30C8B7A8E1}"/>
              </a:ext>
            </a:extLst>
          </p:cNvPr>
          <p:cNvSpPr txBox="1"/>
          <p:nvPr/>
        </p:nvSpPr>
        <p:spPr>
          <a:xfrm>
            <a:off x="10262076" y="6021431"/>
            <a:ext cx="42679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Higher cholesterol levels are associated with greater and more variable systolic BP values, strengthening their role as predictors.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7FA935B-5D14-6F04-CB2F-51BFA281C54F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044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4502" y="3375065"/>
            <a:ext cx="8486180" cy="69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Conclusion &amp; Future Directions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74502" y="4398407"/>
            <a:ext cx="4212908" cy="3222188"/>
          </a:xfrm>
          <a:prstGeom prst="roundRect">
            <a:avLst>
              <a:gd name="adj" fmla="val 2885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995720" y="4619625"/>
            <a:ext cx="663773" cy="663773"/>
          </a:xfrm>
          <a:prstGeom prst="roundRect">
            <a:avLst>
              <a:gd name="adj" fmla="val 13774416"/>
            </a:avLst>
          </a:prstGeom>
          <a:solidFill>
            <a:srgbClr val="EEAE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242" y="4764762"/>
            <a:ext cx="298728" cy="3733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5720" y="5504617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Achievement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995720" y="5983010"/>
            <a:ext cx="3770471" cy="141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Successfully combined Random Forest accuracy with SHAP interpretability for CVD prediction.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208627" y="4398407"/>
            <a:ext cx="4213027" cy="3222188"/>
          </a:xfrm>
          <a:prstGeom prst="roundRect">
            <a:avLst>
              <a:gd name="adj" fmla="val 2885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5429845" y="4619625"/>
            <a:ext cx="663773" cy="663773"/>
          </a:xfrm>
          <a:prstGeom prst="roundRect">
            <a:avLst>
              <a:gd name="adj" fmla="val 13774416"/>
            </a:avLst>
          </a:prstGeom>
          <a:solidFill>
            <a:srgbClr val="EEAE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2368" y="4764762"/>
            <a:ext cx="298728" cy="3733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29845" y="5504617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Clinical Pilot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5429845" y="5983010"/>
            <a:ext cx="3770590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phase: real-world validation in healthcare settings with physician feedback integration.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9642872" y="4398407"/>
            <a:ext cx="4213027" cy="3222188"/>
          </a:xfrm>
          <a:prstGeom prst="roundRect">
            <a:avLst>
              <a:gd name="adj" fmla="val 2885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9864090" y="4619625"/>
            <a:ext cx="663773" cy="663773"/>
          </a:xfrm>
          <a:prstGeom prst="roundRect">
            <a:avLst>
              <a:gd name="adj" fmla="val 13774416"/>
            </a:avLst>
          </a:prstGeom>
          <a:solidFill>
            <a:srgbClr val="EEAE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6613" y="4764762"/>
            <a:ext cx="298728" cy="3733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64090" y="5504617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Enhanced Features</a:t>
            </a:r>
            <a:endParaRPr lang="en-US" sz="2150" dirty="0"/>
          </a:p>
        </p:txBody>
      </p:sp>
      <p:sp>
        <p:nvSpPr>
          <p:cNvPr id="18" name="Text 12"/>
          <p:cNvSpPr/>
          <p:nvPr/>
        </p:nvSpPr>
        <p:spPr>
          <a:xfrm>
            <a:off x="9864090" y="5983010"/>
            <a:ext cx="3770590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models will incorporate genetic markers and detailed lifestyle behavioral data.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93E302A-E095-D80B-7984-37A46499A2B9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900605" y="3583520"/>
            <a:ext cx="3501509" cy="3606165"/>
          </a:xfrm>
          <a:prstGeom prst="roundRect">
            <a:avLst>
              <a:gd name="adj" fmla="val 2721"/>
            </a:avLst>
          </a:prstGeom>
          <a:solidFill>
            <a:srgbClr val="161B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408326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86327" y="131647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References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8075537" y="30488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References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075537" y="362997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Global Health Observatory (2021)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075537" y="443507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Lundberg &amp; Lee: SHAP Values (2017)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075537" y="524017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Cardiovascular ML Review Studies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075537" y="604527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in Healthcare Applications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546</Words>
  <Application>Microsoft Office PowerPoint</Application>
  <PresentationFormat>Custom</PresentationFormat>
  <Paragraphs>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</vt:lpstr>
      <vt:lpstr>Bricolage Grotesque Light</vt:lpstr>
      <vt:lpstr>Arial</vt:lpstr>
      <vt:lpstr>Bricolage Grotesque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Satyam Singh</cp:lastModifiedBy>
  <cp:revision>3</cp:revision>
  <cp:lastPrinted>2025-09-28T15:30:31Z</cp:lastPrinted>
  <dcterms:created xsi:type="dcterms:W3CDTF">2025-09-28T14:03:53Z</dcterms:created>
  <dcterms:modified xsi:type="dcterms:W3CDTF">2025-09-28T15:30:37Z</dcterms:modified>
</cp:coreProperties>
</file>